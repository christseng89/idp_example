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1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828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11880"/>
            <a:ext cx="914400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DEVELOPER PLATFORM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內部開發者平台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重新定義工程效率的基礎建設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Engineering 完整提案 · 基於 CNCF 開源組合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v2.5</a:t>
            </a:r>
            <a:r>
              <a:rPr lang="en-US" sz="1200" dirty="0">
                <a:solidFill>
                  <a:srgbClr val="475569"/>
                </a:solidFill>
              </a:rPr>
              <a:t>   |   </a:t>
            </a:r>
            <a:r>
              <a:rPr lang="en-US" sz="12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5 月</a:t>
            </a:r>
            <a:r>
              <a:rPr lang="en-US" sz="1200" dirty="0">
                <a:solidFill>
                  <a:srgbClr val="475569"/>
                </a:solidFill>
              </a:rPr>
              <a:t>   |   </a:t>
            </a:r>
            <a:r>
              <a:rPr lang="en-US" sz="1200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Audience: Platform Engineering / SRE / Engineering Leadership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 Platform Engineering Team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MOMENTUM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為什麼是現在？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4340" y="1463040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4340" y="1463040"/>
            <a:ext cx="2606040" cy="7315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4340" y="17373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17220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Gartner 預測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2940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 2026 年底，大型企業將擁有專責平台團隊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8980" y="1463040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8980" y="1463040"/>
            <a:ext cx="260604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8980" y="17373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28%+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3451860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CNCF 2024-2025 調查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97580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受訪組織已設立平台團隊，較 2022 年成長兩倍以上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03620" y="1463040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03620" y="1463040"/>
            <a:ext cx="2606040" cy="73152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3620" y="17373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F5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6286500" y="2743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KubeCon Europe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32220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完整子分軌：Platform Engineering Day、BackstageCon、KyvernoCon、ArgoCon、OpenTofu Day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 Engineering 已從先驅企業的實驗，演化為大型組織的標準配備。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內部開發者平台 (IDP) 提案 — Platform Engineering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什麼是 IDP？兩個容易混淆的縮寫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0233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402336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Developer 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內部開發者平台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（本文主題）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管理：</a:t>
            </a: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「開發者能做什麼」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Platform Engineer 為開發者打造的自助服務工具平台。整合服務目錄、Software Templates、CI/CD、文件中心等。代表工具：</a:t>
            </a:r>
            <a:r>
              <a:rPr lang="en-US" sz="12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Backstage、ArgoCD、Crossplane</a:t>
            </a: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40233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71600"/>
            <a:ext cx="4023360" cy="73152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Provider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身份識別提供者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（容易與本文 IDP 混淆）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管理：</a:t>
            </a:r>
            <a:r>
              <a:rPr lang="en-US" sz="1400" b="1" dirty="0">
                <a:solidFill>
                  <a:srgbClr val="2F54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「你是誰」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30632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負責身份驗證與登入的系統。代表工具：</a:t>
            </a:r>
            <a:r>
              <a:rPr lang="en-US" sz="1200" b="1" dirty="0">
                <a:solidFill>
                  <a:srgbClr val="2F54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Okta、Keycloak、Azure AD</a:t>
            </a: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。在 IDP 架構中作為前置 SSO 入口，不是本文重點。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本文「IDP」一律指 Internal Developer Platform。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內部開發者平台 (IDP) 提案 — Platform Engineering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IDP 解決了什麼問題？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17320"/>
            <a:ext cx="402336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降低認知負擔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 Load Reduction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開發者不需成為 K8s 或雲端基礎設施專家，就能安全完成部署。出自 Team Topologies。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17320"/>
            <a:ext cx="4023360" cy="73152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4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標準化與治理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83480" y="1920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Standardization &amp; Governance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2194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所有服務遵循相同模板與最佳實踐；資安掃描、監控、日誌自動完成，降低人為疏失。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10896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108960"/>
            <a:ext cx="4023360" cy="7315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加速交付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5800" y="3611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Accelerated Delivery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886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DORA 2024 年度研究顯示：採用 IDP 的「Elite」組織，部署頻率與 lead time 顯著優於同業，CFR（變更失敗率）更低。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108960"/>
            <a:ext cx="4023360" cy="73152"/>
          </a:xfrm>
          <a:prstGeom prst="rect">
            <a:avLst/>
          </a:prstGeom>
          <a:solidFill>
            <a:srgbClr val="7B2C2C"/>
          </a:solidFill>
          <a:ln w="12700">
            <a:solidFill>
              <a:srgbClr val="7B2C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2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程式碼治理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983480" y="3611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Code Governance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3886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編碼工具（Copilot、Claude Code、Cursor）大量產出程式碼，必須由平台自動驗證取代人工 review。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內部開發者平台 (IDP) 提案 — Platform Engineering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推薦架構：五縱兩橫框架</a:t>
            </a:r>
            <a:endParaRPr lang="en-US" sz="2800" dirty="0"/>
          </a:p>
        </p:txBody>
      </p:sp>
      <p:pic>
        <p:nvPicPr>
          <p:cNvPr id="4" name="Image 0" descr="idp_arch_v2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3155576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976" y="1097280"/>
            <a:ext cx="4616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此框架的三個關鍵特性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069976" y="1417320"/>
            <a:ext cx="54864" cy="9601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07136" y="1417320"/>
            <a:ext cx="447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 五縱負責流量與資源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07136" y="1719072"/>
            <a:ext cx="447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身份驗證 → 開發者入口 → 部署 → 基礎設施 → 可觀測性 → K8s → API 閘道；每層皆為 CNCF Graduated 或 Incubating，可獨立替換。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069976" y="2514600"/>
            <a:ext cx="54864" cy="960120"/>
          </a:xfrm>
          <a:prstGeom prst="rect">
            <a:avLst/>
          </a:prstGeom>
          <a:solidFill>
            <a:srgbClr val="7B2C2C"/>
          </a:solidFill>
          <a:ln w="12700">
            <a:solidFill>
              <a:srgbClr val="7B2C2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07136" y="2514600"/>
            <a:ext cx="447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 兩橫提供跨層治理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07136" y="2816352"/>
            <a:ext cx="447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策略與安全（Policy as Code）+ AI 助手層作用於所有縱向層之上，「護欄而非門禁」的具體實作。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69976" y="3611880"/>
            <a:ext cx="54864" cy="960120"/>
          </a:xfrm>
          <a:prstGeom prst="rect">
            <a:avLst/>
          </a:prstGeom>
          <a:solidFill>
            <a:srgbClr val="1A2A4D"/>
          </a:solidFill>
          <a:ln w="12700">
            <a:solidFill>
              <a:srgbClr val="1A2A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7136" y="3611880"/>
            <a:ext cx="447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 角色與職責清楚分離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207136" y="3913632"/>
            <a:ext cx="447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 / SRE / 應用開發者三個角色各自負責對應 CRD —— 開發者「自助」，平台團隊「設護欄」。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內部開發者平台 (IDP) 提案 — Platform Engineering 2026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 LAYERS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五縱：每一層的核心工具與選用考量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層級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代表工具（CNCF 等級）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選用考量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58F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身份驗證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Keycloak / Okta / Azure AD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提供 SSO / OIDC，控管「你是誰」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A6FA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開發者入口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Backstage（CNCF Incubating）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業界唯一專注於開發者入口的開源框架；插件生態豐富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65A4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部署 / GitOps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ArgoCD（Graduated, 2022-12）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Git as 單一真相；可即時回滾、視覺化部署狀態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F82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基礎設施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Crossplane（Graduated, 2024-10）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K8s 原生方式申請雲資源；Composition 護欄機制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5E3F9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可觀測性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Prometheus + OpenTelemetry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OTel 解決廠商鎖定，自由切換後端儲存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A86B1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API 閘道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Gateway API + Istio / Cilium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K8s SIG 官方標準（v1.0 GA, 2023-10），詳見下頁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各層皆為 CNCF Graduated 或 Incubating 等級，並可獨立替換。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4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內部開發者平台 (IDP) 提案 — Platform Engineering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 LAYERS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兩橫：策略與安全 + AI 助手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4023360" cy="73152"/>
          </a:xfrm>
          <a:prstGeom prst="rect">
            <a:avLst/>
          </a:prstGeom>
          <a:solidFill>
            <a:srgbClr val="7B2C2C"/>
          </a:solidFill>
          <a:ln w="12700">
            <a:solidFill>
              <a:srgbClr val="7B2C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B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橫切層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策略與安全層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as 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Kyverno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Graduated, 2024-11 — YAML 原生 Admission 規則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OPA Gatekeeper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Graduated — Rego 規則語言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Trivy + Falco + Sigstore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供應鏈簽章 / 運行時偵測 / SBOM 掃描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0233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4023360" cy="73152"/>
          </a:xfrm>
          <a:prstGeom prst="rect">
            <a:avLst/>
          </a:prstGeom>
          <a:solidFill>
            <a:srgbClr val="1A2A4D"/>
          </a:solidFill>
          <a:ln w="12700">
            <a:solidFill>
              <a:srgbClr val="1A2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橫切層 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助手層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5603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k8sgpt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CNCF Sandbox / Incubating 候選 — K8s 自然語言除錯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KAITO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開源 — GPU 工作負載編排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Backstage AI plugins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Spotify Pulse、社群 LLM 整合插件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這兩層作用於所有縱向層之上，是「護欄而非門禁」精神的具體實作。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內部開發者平台 (IDP) 提案 — Platform Engineering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 DEEP 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API：K8s SIG-Network 官方標準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v1.0 GA 於 2023-10 發布；正式取代 Ingress API，成為新一代 L7 流量管理標準。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8620" y="146304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8620" y="1463040"/>
            <a:ext cx="2697480" cy="7315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691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GatewayClass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1500" y="21031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2940" y="2423160"/>
            <a:ext cx="2148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Infrastructure Provider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" y="2834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選擇底層實作（Istio / Cilium / Envoy Gateway / Contour）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23260" y="146304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3260" y="1463040"/>
            <a:ext cx="269748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6140" y="1691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06140" y="21031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97580" y="2423160"/>
            <a:ext cx="2148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614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Cluster Operator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6140" y="2834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配置監聽端口、TLS 憑證、可用域名、允許掛載的 Namespace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57900" y="1463040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57900" y="1463040"/>
            <a:ext cx="2697480" cy="73152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0780" y="1691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5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HTTPRoute / GRPCRoute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40780" y="21031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32220" y="2423160"/>
            <a:ext cx="2148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078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Application Developer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40780" y="2834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在自己 Namespace 宣告路由規則、流量切分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主流實作：</a:t>
            </a: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Istio (Graduated 2024-08) · Cilium (Graduated 2023-10) · Envoy Gateway · Contour (Incubating)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內部開發者平台 (IDP) 提案 — Platform Engineering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MATURITY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平台工程成熟度模型（CNCF）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0116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20116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600200"/>
            <a:ext cx="548640" cy="5486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個人志願；無專責團隊；散指令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rot="1800000">
            <a:off x="2427732" y="2404872"/>
            <a:ext cx="82296" cy="128016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371600"/>
            <a:ext cx="20116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371600"/>
            <a:ext cx="201168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60020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5176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65176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小型平台團隊；Self-service Portal；基本 SLO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 rot="1800000">
            <a:off x="4530852" y="2404872"/>
            <a:ext cx="82296" cy="128016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1371600"/>
            <a:ext cx="20116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371600"/>
            <a:ext cx="2011680" cy="73152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1600200"/>
            <a:ext cx="548640" cy="548640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5488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5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規模化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75488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平台視為內部產品；Golden Path；明確 SLO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rot="1800000">
            <a:off x="6633972" y="2404872"/>
            <a:ext cx="82296" cy="128016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0840" y="1371600"/>
            <a:ext cx="20116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20840" y="1371600"/>
            <a:ext cx="2011680" cy="7315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160020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5800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最佳化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85800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資料驅動；A/B 測試；多介面共存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橫跨五個維度：投資 · 採用 · 介面 · 運維 · 衡量。多數組織不會在所有維度同步進化。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 本提案的 5 層工具組合，為支援 Operational → Scalable 的 MVA（最小可行架構）。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內部開發者平台 (IDP) 提案 — Platform Engineering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ANTI-PATTERNS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個常見反模式（避坑指南）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06908" y="1280160"/>
            <a:ext cx="19933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4068" y="1417320"/>
            <a:ext cx="365760" cy="365760"/>
          </a:xfrm>
          <a:prstGeom prst="ellipse">
            <a:avLst/>
          </a:prstGeom>
          <a:solidFill>
            <a:srgbClr val="7B2C2C"/>
          </a:solidFill>
          <a:ln w="12700">
            <a:solidFill>
              <a:srgbClr val="7B2C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4068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5548" y="1444752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裝了 Backstage 就以為有 IDP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4068" y="205740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Portal ≠ 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9172" y="1280160"/>
            <a:ext cx="19933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6332" y="1417320"/>
            <a:ext cx="365760" cy="365760"/>
          </a:xfrm>
          <a:prstGeom prst="ellipse">
            <a:avLst/>
          </a:prstGeom>
          <a:solidFill>
            <a:srgbClr val="7B2C2C"/>
          </a:solidFill>
          <a:ln w="12700">
            <a:solidFill>
              <a:srgbClr val="7B2C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6332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67812" y="1444752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由上而下推行，缺產品思維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56332" y="205740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開發者會自建 Shadow Platform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31436" y="1280160"/>
            <a:ext cx="19933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68596" y="1417320"/>
            <a:ext cx="365760" cy="365760"/>
          </a:xfrm>
          <a:prstGeom prst="ellipse">
            <a:avLst/>
          </a:prstGeom>
          <a:solidFill>
            <a:srgbClr val="7B2C2C"/>
          </a:solidFill>
          <a:ln w="12700">
            <a:solidFill>
              <a:srgbClr val="7B2C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8596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80076" y="1444752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複製雲端 API 介面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68596" y="205740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應做 opinionated workload 抽象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43700" y="1280160"/>
            <a:ext cx="19933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80860" y="1417320"/>
            <a:ext cx="365760" cy="365760"/>
          </a:xfrm>
          <a:prstGeom prst="ellipse">
            <a:avLst/>
          </a:prstGeom>
          <a:solidFill>
            <a:srgbClr val="7B2C2C"/>
          </a:solidFill>
          <a:ln w="12700">
            <a:solidFill>
              <a:srgbClr val="7B2C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08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92340" y="1444752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導入所有 CNCF 工具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80860" y="205740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從四件套起步：Backstage + ArgoCD + Prometheus + Gateway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6908" y="2816352"/>
            <a:ext cx="19933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4068" y="2953512"/>
            <a:ext cx="365760" cy="365760"/>
          </a:xfrm>
          <a:prstGeom prst="ellipse">
            <a:avLst/>
          </a:prstGeom>
          <a:solidFill>
            <a:srgbClr val="7B2C2C"/>
          </a:solidFill>
          <a:ln w="12700">
            <a:solidFill>
              <a:srgbClr val="7B2C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5548" y="298094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平台沒有 SLO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4068" y="3593592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必須像對外 SaaS 對待自己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19172" y="2816352"/>
            <a:ext cx="19933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56332" y="2953512"/>
            <a:ext cx="365760" cy="365760"/>
          </a:xfrm>
          <a:prstGeom prst="ellipse">
            <a:avLst/>
          </a:prstGeom>
          <a:solidFill>
            <a:srgbClr val="7B2C2C"/>
          </a:solidFill>
          <a:ln w="12700">
            <a:solidFill>
              <a:srgbClr val="7B2C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6332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067812" y="298094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忽略開發者體驗回饋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656332" y="3593592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缺乏 DX 衡量指標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31436" y="2816352"/>
            <a:ext cx="19933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68596" y="2953512"/>
            <a:ext cx="365760" cy="365760"/>
          </a:xfrm>
          <a:prstGeom prst="ellipse">
            <a:avLst/>
          </a:prstGeom>
          <a:solidFill>
            <a:srgbClr val="7B2C2C"/>
          </a:solidFill>
          <a:ln w="12700">
            <a:solidFill>
              <a:srgbClr val="7B2C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68596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80076" y="298094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資安管控用門禁取代護欄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768596" y="3593592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應改用 Policy as Code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43700" y="2816352"/>
            <a:ext cx="199339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80860" y="2953512"/>
            <a:ext cx="365760" cy="365760"/>
          </a:xfrm>
          <a:prstGeom prst="ellipse">
            <a:avLst/>
          </a:prstGeom>
          <a:solidFill>
            <a:srgbClr val="7B2C2C"/>
          </a:solidFill>
          <a:ln w="12700">
            <a:solidFill>
              <a:srgbClr val="7B2C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8086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292340" y="298094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助手當作審查的替代品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880860" y="3593592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是機率工具，不是合規閘門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出處：CNCF Platforms WG White Paper · Humanitec State of Platform Engineering · Team Topologies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內部開發者平台 (IDP) 提案 — Platform Engineering 2026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落地路線圖：分階段建置 IDP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74320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MVA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0-3 個月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517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Backstage 服務目錄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ArgoCD GitOps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Prometheus 監控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 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88720"/>
            <a:ext cx="2743200" cy="73152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F5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擴充與護欄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290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3-9 個月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0" y="2514600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6517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Crossplane 基礎設施自助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Kyverno Policy as Code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Trivy + Sigstore 供應鏈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OpenTelemetry 全面整合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11887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188720"/>
            <a:ext cx="2743200" cy="7315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整合與最佳化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0936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9-18 個月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2514600"/>
            <a:ext cx="2286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6517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k8sgpt 自然語言除錯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Backstage AI plugins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Argo Rollouts 漸進發布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DX 指標儀表板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內部開發者平台 (IDP) 提案 — Platform Engineering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MULTI-ENVIRONMENT CONFIGURATION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/ Staging / Prod 各環境工具配置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25880" y="960120"/>
            <a:ext cx="2468880" cy="5029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9966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2527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開發測試 · 快速迭代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931920" y="960120"/>
            <a:ext cx="246888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9966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0" y="12527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模擬生產 · 整合驗證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37960" y="960120"/>
            <a:ext cx="2468880" cy="5029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9966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12527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生產環境 · 合規與穩定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工具層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Dev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Staging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身份驗證 IdP  · 縱1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dev tenant / 寬鬆群組綁定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staging IdP + 群組同步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prod IdP + MFA + audit log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Backstage Portal  · 縱2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共用 dev Backstage 實例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Staging Backstage + RBAC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Prod Backstage + 嚴格 RBAC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Kyverno 模式  · 橫A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audit（記錄放行）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enforce（攔截違規）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enforce + 簽章驗證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Sigstore 驗證  · 橫A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跳過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啟用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啟用 + verify-attest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Falco 運行時偵測  · 橫A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關閉 / 僅記錄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啟用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啟用 + 推送 SIEM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Prometheus 保留期  · 縱5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 天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 天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90 天 + 長期歸檔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HPA / KEDA  · 縱6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1-2 replicas（固定）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2-4 replicas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完整自動擴展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External Secrets  · 縱4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假資料 / dev secrets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staging Vault NS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prod Vault + 金鑰輪替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Gateway API  · 縱7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共用 dev Gateway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獨立 staging Gateway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獨立 prod Gateway + WAF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ArgoCD Sync  · 縱3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auto-sync 自動部署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auto-sync + Canary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manual approval / PR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Argo Rollouts  · 縱3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RollingUpdate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Blue-Green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Canary + Analysis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Crossplane Comp.  · 縱4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小規格（db.t3.micro）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中規格 + 副本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 AZ + 加密 + 備份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6576" marR="36576" marT="36576" marB="36576"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11480" y="42976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備註：</a:t>
            </a:r>
            <a:r>
              <a:rPr lang="en-US" sz="750" b="1" dirty="0">
                <a:solidFill>
                  <a:srgbClr val="C58F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縱1</a:t>
            </a: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身份驗證  ｜  </a:t>
            </a:r>
            <a:r>
              <a:rPr lang="en-US" sz="750" b="1" dirty="0">
                <a:solidFill>
                  <a:srgbClr val="3A6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縱2</a:t>
            </a: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開發者入口  ｜  </a:t>
            </a:r>
            <a:r>
              <a:rPr lang="en-US" sz="750" b="1" dirty="0">
                <a:solidFill>
                  <a:srgbClr val="B65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縱3</a:t>
            </a: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部署/GitOps  ｜  </a:t>
            </a:r>
            <a:r>
              <a:rPr lang="en-US" sz="750" b="1" dirty="0">
                <a:solidFill>
                  <a:srgbClr val="4F82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縱4</a:t>
            </a: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基礎設施  ｜  </a:t>
            </a:r>
            <a:r>
              <a:rPr lang="en-US" sz="750" b="1" dirty="0">
                <a:solidFill>
                  <a:srgbClr val="5E3F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縱5</a:t>
            </a: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可觀測性  ｜  </a:t>
            </a:r>
            <a:r>
              <a:rPr lang="en-US" sz="750" b="1" dirty="0">
                <a:solidFill>
                  <a:srgbClr val="326C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縱6</a:t>
            </a: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執行環境  ｜  </a:t>
            </a:r>
            <a:r>
              <a:rPr lang="en-US" sz="750" b="1" dirty="0">
                <a:solidFill>
                  <a:srgbClr val="A86B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縱7</a:t>
            </a: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API 閘道  ｜  </a:t>
            </a:r>
            <a:r>
              <a:rPr lang="en-US" sz="750" b="1" dirty="0">
                <a:solidFill>
                  <a:srgbClr val="7B2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橫A</a:t>
            </a: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策略與安全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5262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 </a:t>
            </a:r>
            <a:r>
              <a:rPr lang="en-US" sz="1000" i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開發者透過 Backstage 模板選擇環境，平台層自動套用上述差異化配置——「自助 + 護欄」精神的具體落地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內部開發者平台 (IDP) 提案 — Platform Engineering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讓開發者把時間花在真正有價值的事情上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the only goal that matters.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606040" cy="1417320"/>
          </a:xfrm>
          <a:prstGeom prst="rect">
            <a:avLst/>
          </a:prstGeom>
          <a:solidFill>
            <a:srgbClr val="1F3A5F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⅓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技術選型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2461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本提案的 5 層 CNCF 開源組合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8980" y="2606040"/>
            <a:ext cx="2606040" cy="1417320"/>
          </a:xfrm>
          <a:prstGeom prst="rect">
            <a:avLst/>
          </a:prstGeom>
          <a:solidFill>
            <a:srgbClr val="1F3A5F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1860" y="27432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⅓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183380" y="2834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產品思維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83380" y="32461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把開發者視為內部客戶，追蹤 NPS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2606040"/>
            <a:ext cx="2606040" cy="1417320"/>
          </a:xfrm>
          <a:prstGeom prst="rect">
            <a:avLst/>
          </a:prstGeom>
          <a:solidFill>
            <a:srgbClr val="1F3A5F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7432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⅓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995160" y="2834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組織文化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95160" y="32461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「You build it, you run it」DevOps 精神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Next Step：</a:t>
            </a: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 Phase 1 試點 — 選 1 個團隊、1 條 Golden Path、3 個月驗證 MVA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754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400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 &amp;  DISCUSSION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1237</Words>
  <Application>Microsoft Office PowerPoint</Application>
  <PresentationFormat>On-screen Show (16:9)</PresentationFormat>
  <Paragraphs>297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Microsoft JhengHei</vt:lpstr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Developer Platform (IDP) Proposal</dc:title>
  <dc:subject>PptxGenJS Presentation</dc:subject>
  <dc:creator>Platform Engineering Team</dc:creator>
  <cp:lastModifiedBy>Chris Tseng</cp:lastModifiedBy>
  <cp:revision>1</cp:revision>
  <dcterms:created xsi:type="dcterms:W3CDTF">2026-05-02T04:27:27Z</dcterms:created>
  <dcterms:modified xsi:type="dcterms:W3CDTF">2026-05-02T04:30:20Z</dcterms:modified>
</cp:coreProperties>
</file>